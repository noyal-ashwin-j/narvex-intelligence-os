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TITLE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47104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NARVEX — Sovereign Spatial-Temporal Narcotics Intelligence &amp; Predictive OS | @SIH Idea Submission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65836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583680" cy="502920"/>
          </a:xfrm>
          <a:prstGeom prst="round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PROBLEM STATEMENT &amp; TEAM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90E1A"/>
                </a:solidFill>
              </a:rPr>
              <a:t>• Problem Statement ID: </a:t>
            </a:r>
            <a:r>
              <a:rPr b="0" sz="1300">
                <a:solidFill>
                  <a:srgbClr val="1E293B"/>
                </a:solidFill>
              </a:rPr>
              <a:t>SIH2026-NCB-01 (or Allocated ID)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90E1A"/>
                </a:solidFill>
              </a:rPr>
              <a:t>• Problem Statement Title: </a:t>
            </a:r>
            <a:r>
              <a:rPr b="0" sz="1300">
                <a:solidFill>
                  <a:srgbClr val="1E293B"/>
                </a:solidFill>
              </a:rPr>
              <a:t>Unified Spatial-Temporal Intelligence, Cross-Agency Signal Correlation &amp; Predictive Narcotics Corridor Tracking Platform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90E1A"/>
                </a:solidFill>
              </a:rPr>
              <a:t>• Theme: </a:t>
            </a:r>
            <a:r>
              <a:rPr b="0" sz="1300">
                <a:solidFill>
                  <a:srgbClr val="1E293B"/>
                </a:solidFill>
              </a:rPr>
              <a:t>Security &amp; Surveillance / Smart Governance / AI Decision Support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90E1A"/>
                </a:solidFill>
              </a:rPr>
              <a:t>• PS Category: </a:t>
            </a:r>
            <a:r>
              <a:rPr b="0" sz="1300">
                <a:solidFill>
                  <a:srgbClr val="1E293B"/>
                </a:solidFill>
              </a:rPr>
              <a:t>Software (Enterprise / Air-Gapped Sovereign Intelligence OS)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90E1A"/>
                </a:solidFill>
              </a:rPr>
              <a:t>• Team ID: </a:t>
            </a:r>
            <a:r>
              <a:rPr b="0" sz="1300">
                <a:solidFill>
                  <a:srgbClr val="1E293B"/>
                </a:solidFill>
              </a:rPr>
              <a:t>[Insert Team ID]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90E1A"/>
                </a:solidFill>
              </a:rPr>
              <a:t>• Team Name: </a:t>
            </a:r>
            <a:r>
              <a:rPr b="0" sz="1300">
                <a:solidFill>
                  <a:srgbClr val="1E293B"/>
                </a:solidFill>
              </a:rPr>
              <a:t>[Insert Registered Team Name]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371600"/>
            <a:ext cx="3962095" cy="4846320"/>
          </a:xfrm>
          <a:prstGeom prst="roundRect">
            <a:avLst/>
          </a:prstGeom>
          <a:solidFill>
            <a:srgbClr val="090E1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645920"/>
            <a:ext cx="35963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NARVEX</a:t>
            </a:r>
          </a:p>
          <a:p>
            <a:pPr algn="ctr"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Sovereign Intelligence OS</a:t>
            </a:r>
          </a:p>
          <a:p>
            <a:pPr algn="ctr">
              <a:spcAft>
                <a:spcPts val="1400"/>
              </a:spcAft>
              <a:defRPr sz="1200" b="1">
                <a:solidFill>
                  <a:srgbClr val="F59E0B"/>
                </a:solidFill>
              </a:defRPr>
            </a:pPr>
            <a:r>
              <a:t>JARVIS : IRON MAN</a:t>
            </a:r>
            <a:br/>
            <a:r>
              <a:t>NARVEX : LAW ENFORCEMENT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Cross-Agency Signal Correlation</a:t>
            </a:r>
            <a:br/>
            <a:r>
              <a:t>• 4-Tier Grounded Corridor Telemetry</a:t>
            </a:r>
            <a:br/>
            <a:r>
              <a:t>• Two-Horizon Predictive Modeling</a:t>
            </a:r>
            <a:br/>
            <a:r>
              <a:t>• Tamper-Evident SHA-256 Provenance</a:t>
            </a:r>
            <a:br/>
            <a:r>
              <a:t>• Zero-Trust Role-Based Access Control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PROPOSED SOLUTION (NARVEX INTELLIGENCE PLATFORM)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47104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NARVEX — Sovereign Spatial-Temporal Narcotics Intelligence &amp; Predictive OS | @SIH Idea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37560" cy="502920"/>
          </a:xfrm>
          <a:prstGeom prst="round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447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1. PROPOSED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65960"/>
            <a:ext cx="3063240" cy="320040"/>
          </a:xfrm>
          <a:prstGeom prst="round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SELF-UPDATING INTELLIGENCE 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Continuous Intelligence OS: Not a static dashboard or simple complaint form; continuously recalculates risk.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Universal Drag-and-Drop Ingestion: Accepts PDF FIRs, Seizure logs, Toll ANPR scans, Citizen tips &amp; News.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Two-Horizon Analytics: Differentiates Immediate Attention (Velocity ≥ 1.8x) from 30-Day ML Risk Horizon.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37160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371600"/>
            <a:ext cx="3337560" cy="5029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14447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2. SOLVING SIGNAL FAILURE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62856" y="1965960"/>
            <a:ext cx="3063240" cy="320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CROSS-AGENCY 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33172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Root Cause: Disconnected crimes near colleges/borders are handled in silos until violent crime occurs.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Cross-Source Correlation: Fuses data from State Police, Toll ANPR, Customs, and Citizen tips in 30D windows.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Early Cluster Detection: Discovers micro-clusters and cross-agency convergence weeks before crisis escalation.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137160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9872" y="1371600"/>
            <a:ext cx="3337560" cy="5029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14447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3. INNOVATION &amp; UNIQUENESS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57032" y="1965960"/>
            <a:ext cx="3063240" cy="3200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CRYPTOGRAPHIC &amp; EXPLAINABLE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233172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4-Tier Corridor Evidence: Classifies routes as Observed, Associated, Potential, or Unknown.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First-Time Safeguard: Zero-history areas flagged as Needs Verification rather than false High Risk.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Informant Shield: Automated PII stripping + anonymous cryptographic tracking tokens (NARC-xxxx).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Explainable SHA-256 Provenance: 112+ block audit ledger answering 'Why is this flagged?'.</a:t>
            </a: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47104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NARVEX — Sovereign Spatial-Temporal Narcotics Intelligence &amp; Predictive OS | @SIH Idea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090E1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⚡ AUTOMATED END-TO-END INTELLIGENCE PIPELINE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1. RAW MULTI-SOURCE FEEDS (PDF FIRs • Seizures • Toll ANPR • Citizen Reports • Public News)</a:t>
            </a:r>
            <a:br/>
            <a:r>
              <a:t>   ↓ Automated PII Redaction + Tesseract OCR Parser + Geospatial Normalization</a:t>
            </a:r>
            <a:br/>
            <a:r>
              <a:t>2. NORMALIZED MYSQL narvex LEDGER (Historical 30D/90D Baselines &amp; Cryptographic Blocks)</a:t>
            </a:r>
            <a:br/>
            <a:r>
              <a:t>   ↓ Spatio-Temporal Correlation Engine &amp; 4-Tier Corridor Evidence Grounding</a:t>
            </a:r>
            <a:br/>
            <a:r>
              <a:t>3. CALIBRATED ML FORECASTING (Regularized Logistic Regression, Temperature T=1.6, P ∈ [0.15, 0.88])</a:t>
            </a:r>
            <a:br/>
            <a:r>
              <a:t>   ↓ Real-Time Server-Sent Events (SSE Mesh Broadcast)</a:t>
            </a:r>
            <a:br/>
            <a:r>
              <a:t>4. TACTICAL COMMAND HUD (MapLibre 3D Globe Arcs • Leaflet 2D GIS • AI Voice Assistant)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33375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3337560" cy="502920"/>
          </a:xfrm>
          <a:prstGeom prst="round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393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FRONTEND &amp; VISUALIZATION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60520"/>
            <a:ext cx="3063240" cy="320040"/>
          </a:xfrm>
          <a:prstGeom prst="round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REACT 18 • MAPLIBRE 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3063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React 18 &amp; Vite: High-performance command canvas.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MapLibre GL 3D: WebGL great-circle interstate arcs.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Leaflet 2D GIS: District street-level surveillance.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TailwindCSS &amp; Lucide: Tactical war-room 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3566160"/>
            <a:ext cx="33375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25696" y="3566160"/>
            <a:ext cx="3337560" cy="5029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36393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BACKEND &amp; AI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2856" y="4160520"/>
            <a:ext cx="3063240" cy="320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41605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NODE.JS • SSE • ML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4526280"/>
            <a:ext cx="3063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Node.js &amp; Express: Parameterized API gateway.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SSE Real-Time Mesh: Sub-second live telemetry.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Regularized ML Model: Calibrated 5-feature vector.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NLP Intent Parser: Central Voice Assistant tool bus.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3566160"/>
            <a:ext cx="33375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9872" y="3566160"/>
            <a:ext cx="3337560" cy="5029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36393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SECURITY &amp; LEDGER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7032" y="4160520"/>
            <a:ext cx="3063240" cy="3200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41605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ZERO-TRUST • SHA-256 HASH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4526280"/>
            <a:ext cx="3063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MySQL 8.0: 38-district intelligence schema.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Bcrypt Hashing: Strict salted password verification.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RFC 6238 TOTP: Time-window Multi-Factor Auth.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SHA-256 Ledger: 112+ block audit hash chain.</a:t>
            </a: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FEASIBILITY, VIABILITY &amp; RISK 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47104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NARVEX — Sovereign Spatial-Temporal Narcotics Intelligence &amp; Predictive OS | @SIH Idea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66360" cy="502920"/>
          </a:xfrm>
          <a:prstGeom prst="round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FEASIBILITY &amp; OPERATIONAL VIABILITY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65960"/>
            <a:ext cx="4892040" cy="320040"/>
          </a:xfrm>
          <a:prstGeom prst="round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PRODUCTION READY &amp; COMPLIANT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4892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100% Working Prototype Already Built: 38 Tamil Nadu district nodes populated, 2,400+ normalized records, 10/10 automated tests passing.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Zero Officer Training Curve: Directly ingests standard CCTNS FIR exports and ANPR toll logs with drag-and-drop ease.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Government Policy Alignment: Full compliance with National Data Governance Framework and IT Act informant privacy mandates.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Hardware Independence: Runs on standard state command workstations with zero expensive proprietary hardware lock-in.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71600"/>
            <a:ext cx="51663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371600"/>
            <a:ext cx="516636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CHALLENGES &amp; MITIGATION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8232" y="1965960"/>
            <a:ext cx="48920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96596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ZERO-TRUST SECURITY ENVELOPE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331720"/>
            <a:ext cx="4892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Challenge 1 (Unstructured / Scanned FIRs): Solved via multi-pass OCR (Tesseract) + regex entity extraction with human verification queue.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Challenge 2 (Insider Threat / Data Leakage): Solved via Server-Side Zero-Trust District Scoping returning HTTP 403 &amp; SIEM alerts.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Challenge 3 (Air-Gapped Police Networks): Solved via bundled offline PMTiles vector maps and local ONNX inference nodes without cloud APIs.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Challenge 4 (Informant Retaliation Risk): Solved via automated PII stripping and zero-knowledge tracking tokens (NARC-xxxx).</a:t>
            </a:r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IMPACT AND SOCIETAL / ADMINISTRATIVE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47104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NARVEX — Sovereign Spatial-Temporal Narcotics Intelligence &amp; Predictive OS | @SIH Idea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66360" cy="5029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LAW ENFORCEMENT &amp; ADMINISTRATIVE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65960"/>
            <a:ext cx="4892040" cy="320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85% FASTER SURVEILLANCE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4892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85% Faster Early Warning: Detects supply corridor shifts weeks before retrospective monthly bulletins.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Automated Feed Processing: Parses multi-format documents in &lt;3 seconds without data entry fatigue.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1-Click Court-Ready Dossiers: Generates tamper-evident executive briefings with full cryptographic evidence lineage.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Optimized Resource Allocation: Directs highway patrols and checkpost intensity to high-probability corridors.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71600"/>
            <a:ext cx="51663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371600"/>
            <a:ext cx="51663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SOCIETAL &amp; ECONOMIC BENEFITS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8232" y="1965960"/>
            <a:ext cx="4892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96596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COMMUNITY &amp; YOUTH 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331720"/>
            <a:ext cx="4892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Preventing Violent Crime Escalation: Correlates micro-seizures around colleges before syndicates establish violent territorial control.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Informant &amp; Whistleblower Safety: Eliminates identity leakages, fostering higher citizen reporting trust.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Inter-Agency Synergy: Eliminates duplicated investigations between State Police, NCB, Toll Checkposts, and Health agencies.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Economic Impact: Drastically reduces illicit cash flows financing organized crime syndicates.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RESEARCH, EMPIRICAL BENCHMARKS &amp;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47104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NARVEX — Sovereign Spatial-Temporal Narcotics Intelligence &amp; Predictive OS | @SIH Idea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728655" cy="502920"/>
          </a:xfrm>
          <a:prstGeom prst="round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44752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EMPIRICAL GROUNDING &amp; GOVERNMENT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090E1A"/>
                </a:solidFill>
              </a:rPr>
              <a:t>• 1. Narcotics Control Bureau (NCB) Intelligence Reports (2025–2026): </a:t>
            </a:r>
            <a:r>
              <a:rPr b="0" sz="1100">
                <a:solidFill>
                  <a:srgbClr val="1E293B"/>
                </a:solidFill>
              </a:rPr>
              <a:t>Seizure pattern analysis, multi-modal trafficking trends (long-distance rail, private inter-state buses), and Tamil Nadu maritime corridor telemetry (narcoticsindia.nic.in).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90E1A"/>
                </a:solidFill>
              </a:rPr>
              <a:t>• 2. Ministry of Home Affairs (MHA) MANAS Portal Telemetry: </a:t>
            </a:r>
            <a:r>
              <a:rPr b="0" sz="1100">
                <a:solidFill>
                  <a:srgbClr val="1E293B"/>
                </a:solidFill>
              </a:rPr>
              <a:t>1.19 Lakh citizen interactions recorded in 2025, validating the critical necessity for automated cross-source signal correlation rather than passive storage.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90E1A"/>
                </a:solidFill>
              </a:rPr>
              <a:t>• 3. Smart India Hackathon (SIH) National Problem Track Precedents: </a:t>
            </a:r>
            <a:r>
              <a:rPr b="0" sz="1100">
                <a:solidFill>
                  <a:srgbClr val="1E293B"/>
                </a:solidFill>
              </a:rPr>
              <a:t>Dual-use chemical diversion tracking (NC049) and cryptocurrency money trail identification in illicit trafficking.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90E1A"/>
                </a:solidFill>
              </a:rPr>
              <a:t>• 4. Academic Spatial-Temporal Modeling Research: </a:t>
            </a:r>
            <a:r>
              <a:rPr b="0" sz="1100">
                <a:solidFill>
                  <a:srgbClr val="1E293B"/>
                </a:solidFill>
              </a:rPr>
              <a:t>Spatial-Temporal Point Processes and Hawkes Self-Exciting Models in Illicit Supply Chain Disruption (IEEE / ACM Intelligence Systems).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90E1A"/>
                </a:solidFill>
              </a:rPr>
              <a:t>• 5. Cryptographic &amp; Security Standards: </a:t>
            </a:r>
            <a:r>
              <a:rPr b="0" sz="1100">
                <a:solidFill>
                  <a:srgbClr val="1E293B"/>
                </a:solidFill>
              </a:rPr>
              <a:t>NIST FIPS 180-4 (Secure Hash Standard SHA-256), RFC 6238 (TOTP Algorithm), and OWASP Zero-Trust Application Security Guidelines.</a:t>
            </a: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